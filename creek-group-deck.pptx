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4A1A"/>
              </a:solidFill>
              <a:effectLst/>
            </c:spPr>
          </c:dPt>
          <c:dPt>
            <c:idx val="1"/>
            <c:bubble3D val="0"/>
            <c:spPr>
              <a:solidFill>
                <a:srgbClr val="C89B3C"/>
              </a:solidFill>
              <a:effectLst/>
            </c:spPr>
          </c:dPt>
          <c:dPt>
            <c:idx val="2"/>
            <c:bubble3D val="0"/>
            <c:spPr>
              <a:solidFill>
                <a:srgbClr val="5A7A52"/>
              </a:solidFill>
              <a:effectLst/>
            </c:spPr>
          </c:dPt>
          <c:dPt>
            <c:idx val="3"/>
            <c:bubble3D val="0"/>
            <c:spPr>
              <a:solidFill>
                <a:srgbClr val="3D7A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Phone Calls</c:v>
                </c:pt>
                <c:pt idx="1">
                  <c:v>SMS / Text</c:v>
                </c:pt>
                <c:pt idx="2">
                  <c:v>Email</c:v>
                </c:pt>
                <c:pt idx="3">
                  <c:v>Web Form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C1F0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6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36576" cy="51435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AUDIT REPORT  ·  APRIL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Creek</a:t>
            </a:r>
            <a:endParaRPr lang="en-US" sz="7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1097280" cy="54864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11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digital presence is costing you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what it could do instead.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OWNERSHIP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64008" cy="146304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years of Houston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credibility.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51760" cy="169164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286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Heights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651760" cy="169164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286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across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+ Galveston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2651760" cy="169164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286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6364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online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story — friends tubing the Guadalupe River, cold beers, Texas heat — is a genuinely compelling brand asset. The gap: the digital experience doesn't yet match the in-person 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costing you customers right now.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54480" cy="35661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554480" cy="64008"/>
          </a:xfrm>
          <a:prstGeom prst="rect">
            <a:avLst/>
          </a:prstGeom>
          <a:solidFill>
            <a:srgbClr val="B84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Load Speed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097280" cy="292608"/>
          </a:xfrm>
          <a:prstGeom prst="rect">
            <a:avLst>
              <a:gd name="adj" fmla="val 12500"/>
            </a:avLst>
          </a:prstGeom>
          <a:solidFill>
            <a:srgbClr val="B84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051560"/>
            <a:ext cx="1554480" cy="35661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51560"/>
            <a:ext cx="1554480" cy="64008"/>
          </a:xfrm>
          <a:prstGeom prst="rect">
            <a:avLst/>
          </a:prstGeom>
          <a:solidFill>
            <a:srgbClr val="B84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0312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Not Searchable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3017520"/>
            <a:ext cx="1097280" cy="292608"/>
          </a:xfrm>
          <a:prstGeom prst="rect">
            <a:avLst>
              <a:gd name="adj" fmla="val 12500"/>
            </a:avLst>
          </a:prstGeom>
          <a:solidFill>
            <a:srgbClr val="B84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0" y="1051560"/>
            <a:ext cx="1554480" cy="35661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051560"/>
            <a:ext cx="1554480" cy="64008"/>
          </a:xfrm>
          <a:prstGeom prst="rect">
            <a:avLst/>
          </a:prstGeom>
          <a:solidFill>
            <a:srgbClr val="B84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of Calls Ignored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3017520"/>
            <a:ext cx="1097280" cy="292608"/>
          </a:xfrm>
          <a:prstGeom prst="rect">
            <a:avLst>
              <a:gd name="adj" fmla="val 12500"/>
            </a:avLst>
          </a:prstGeom>
          <a:solidFill>
            <a:srgbClr val="B84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1051560"/>
            <a:ext cx="1554480" cy="35661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051560"/>
            <a:ext cx="1554480" cy="64008"/>
          </a:xfrm>
          <a:prstGeom prst="rect">
            <a:avLst/>
          </a:prstGeom>
          <a:solidFill>
            <a:srgbClr val="C89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Buried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3017520"/>
            <a:ext cx="1097280" cy="292608"/>
          </a:xfrm>
          <a:prstGeom prst="rect">
            <a:avLst>
              <a:gd name="adj" fmla="val 12500"/>
            </a:avLst>
          </a:prstGeom>
          <a:solidFill>
            <a:srgbClr val="C89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23760" y="1051560"/>
            <a:ext cx="1554480" cy="35661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051560"/>
            <a:ext cx="1554480" cy="64008"/>
          </a:xfrm>
          <a:prstGeom prst="rect">
            <a:avLst/>
          </a:prstGeom>
          <a:solidFill>
            <a:srgbClr val="3D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31520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Brand Hub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52360" y="3017520"/>
            <a:ext cx="1097280" cy="292608"/>
          </a:xfrm>
          <a:prstGeom prst="rect">
            <a:avLst>
              <a:gd name="adj" fmla="val 12500"/>
            </a:avLst>
          </a:prstGeom>
          <a:solidFill>
            <a:srgbClr val="3D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64008" cy="100584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CRITICAL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leave before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menu even loads.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0" y="411480"/>
            <a:ext cx="3200400" cy="210312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594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669280" y="1691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visitors leave if 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takes more than 3 seconds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 Probability by Load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2404872"/>
            <a:ext cx="3657600" cy="256032"/>
          </a:xfrm>
          <a:prstGeom prst="rect">
            <a:avLst/>
          </a:prstGeom>
          <a:solidFill>
            <a:srgbClr val="E8DEC8"/>
          </a:solidFill>
          <a:ln w="12700">
            <a:solidFill>
              <a:srgbClr val="E8DE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2404872"/>
            <a:ext cx="256032" cy="25603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3624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2953512"/>
            <a:ext cx="3657600" cy="256032"/>
          </a:xfrm>
          <a:prstGeom prst="rect">
            <a:avLst/>
          </a:prstGeom>
          <a:solidFill>
            <a:srgbClr val="E8DEC8"/>
          </a:solidFill>
          <a:ln w="12700">
            <a:solidFill>
              <a:srgbClr val="E8DE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2953512"/>
            <a:ext cx="1170432" cy="25603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3502152"/>
            <a:ext cx="3657600" cy="256032"/>
          </a:xfrm>
          <a:prstGeom prst="rect">
            <a:avLst/>
          </a:prstGeom>
          <a:solidFill>
            <a:srgbClr val="E8DEC8"/>
          </a:solidFill>
          <a:ln w="12700">
            <a:solidFill>
              <a:srgbClr val="E8DE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3502152"/>
            <a:ext cx="1389888" cy="25603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3474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34440" y="4050792"/>
            <a:ext cx="3657600" cy="256032"/>
          </a:xfrm>
          <a:prstGeom prst="rect">
            <a:avLst/>
          </a:prstGeom>
          <a:solidFill>
            <a:srgbClr val="E8DEC8"/>
          </a:solidFill>
          <a:ln w="12700">
            <a:solidFill>
              <a:srgbClr val="E8DE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4050792"/>
            <a:ext cx="3291840" cy="25603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023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/ Huckabuy Page Speed Research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2697480"/>
            <a:ext cx="3200400" cy="2148840"/>
          </a:xfrm>
          <a:prstGeom prst="rect">
            <a:avLst/>
          </a:prstGeom>
          <a:solidFill>
            <a:srgbClr val="F2EBD9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309067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&amp; lazy-load images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CDN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render-blocking scripts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</a:t>
            </a:r>
            <a:pPr indent="0" marL="0">
              <a:buNone/>
            </a:pPr>
            <a:r>
              <a:rPr lang="en-US" sz="12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64008" cy="100584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CRITICAL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can't find your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Events page.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965960"/>
            <a:ext cx="51206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"private event venue Houston Heights"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754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Row Flint — Book an Event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34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agricolehospitality.com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Goodnight Charlie's — Private Dining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64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goodnightcharlies.com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Xochi — Events &amp; Catering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xochihouston.com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4937760" cy="493776"/>
          </a:xfrm>
          <a:prstGeom prst="rect">
            <a:avLst/>
          </a:prstGeom>
          <a:solidFill>
            <a:srgbClr val="FFF0EC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4123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APPEARING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Creek Group — ??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325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thecreekgroup.com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411480"/>
            <a:ext cx="3108960" cy="425196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548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9144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searching for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event venues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finding competitors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month.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2331720"/>
            <a:ext cx="2560320" cy="36576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278892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schema markup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events pages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meta descriptions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Google Business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for all 6 venues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Eight Row Flint (same neighborhood) has a prominent "Book an Event" button above the fold.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64008" cy="100584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CRITICAL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ignoring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 of your calls.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920240"/>
          <a:ext cx="3840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389120" y="1920240"/>
            <a:ext cx="4480560" cy="109728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26364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contact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as SMS 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unanswered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3154680"/>
            <a:ext cx="4480560" cy="1600200"/>
          </a:xfrm>
          <a:prstGeom prst="rect">
            <a:avLst/>
          </a:prstGeom>
          <a:solidFill>
            <a:srgbClr val="F2EBD9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89120" y="3246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26280" y="35204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SMS on all 6 venue lines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text-back auto-response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 on inbound text protocol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  ·  ROI: IMMEDIATE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competition is already doing 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0" y="960120"/>
            <a:ext cx="2286000" cy="457200"/>
          </a:xfrm>
          <a:prstGeom prst="rect">
            <a:avLst/>
          </a:prstGeom>
          <a:solidFill>
            <a:srgbClr val="5A7A52"/>
          </a:solidFill>
          <a:ln w="12700">
            <a:solidFill>
              <a:srgbClr val="5A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Row Flint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Heights Market)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92240" y="960120"/>
            <a:ext cx="2286000" cy="45720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Creek Group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State)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8321040" cy="50292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Event Booking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8321040" cy="502920"/>
          </a:xfrm>
          <a:prstGeom prst="rect">
            <a:avLst/>
          </a:prstGeom>
          <a:solidFill>
            <a:srgbClr val="F5EFE0"/>
          </a:solidFill>
          <a:ln w="12700">
            <a:solidFill>
              <a:srgbClr val="F5E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396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Cross-Venue Gift Cards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" y="2587752"/>
            <a:ext cx="8321040" cy="50292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Group Hub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1480" y="3127248"/>
            <a:ext cx="8321040" cy="502920"/>
          </a:xfrm>
          <a:prstGeom prst="rect">
            <a:avLst/>
          </a:prstGeom>
          <a:solidFill>
            <a:srgbClr val="F5EFE0"/>
          </a:solidFill>
          <a:ln w="12700">
            <a:solidFill>
              <a:srgbClr val="F5EF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Program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11480" y="3666744"/>
            <a:ext cx="8321040" cy="50292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58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Contact Option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739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3739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1480" y="4206240"/>
            <a:ext cx="8321040" cy="502920"/>
          </a:xfrm>
          <a:prstGeom prst="rect">
            <a:avLst/>
          </a:prstGeom>
          <a:solidFill>
            <a:srgbClr val="F5EFE0"/>
          </a:solidFill>
          <a:ln w="12700">
            <a:solidFill>
              <a:srgbClr val="F5EF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/ Email List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0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1148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Agricole Hospitality (agricolehospitality.com) — Eight Row Flint's parent group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64008" cy="91440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of people are already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telling your story online.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743200" cy="292608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2057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Onion Creek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2423160"/>
            <a:ext cx="1463040" cy="36576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Reviews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#399 of 4,372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restaurants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743200" cy="292608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057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Creek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2423160"/>
            <a:ext cx="1463040" cy="36576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945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3756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Reviews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Credited with sparking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Shady Acres boom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2743200" cy="2926080"/>
          </a:xfrm>
          <a:prstGeom prst="rect">
            <a:avLst/>
          </a:prstGeom>
          <a:solidFill>
            <a:srgbClr val="2C1F0E"/>
          </a:solidFill>
          <a:ln w="12700">
            <a:solidFill>
              <a:srgbClr val="2C1F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057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Cactus Cove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2423160"/>
            <a:ext cx="1463040" cy="36576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26364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Reviews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favorite of the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Creek group"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organic review volume is not being leveraged. There is no cross-venue discovery, no loyalty loop, no reason for a Cedar Creek regular to know Cactus Cove exists.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64008" cy="82296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industry data backs it up.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114800" cy="15087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64008" cy="150876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1848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4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visitors leave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load time &gt; 3 seconds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14800" cy="15087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64008" cy="150876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1848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4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likely to buy when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slower than expected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/ Consumer Survey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4114800" cy="15087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00400"/>
            <a:ext cx="64008" cy="150876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1012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4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01168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online reservations (Q3 2025)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434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Q3 2025 Report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4114800" cy="15087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00400"/>
            <a:ext cx="64008" cy="150876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31012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4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diners welcome AI to help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discover new restaurants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434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2026 Dining Trends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Action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— and in what order.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83210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502920" cy="53035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 + lazy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0" y="1435608"/>
            <a:ext cx="731520" cy="25603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83210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38528"/>
            <a:ext cx="502920" cy="53035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385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29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on events/booking pages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029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2048256"/>
            <a:ext cx="731520" cy="25603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0482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2551176"/>
            <a:ext cx="83210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51176"/>
            <a:ext cx="502920" cy="53035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511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6426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SMS on all venue phone lines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642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660904"/>
            <a:ext cx="731520" cy="256032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3163824"/>
            <a:ext cx="83210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163824"/>
            <a:ext cx="502920" cy="5303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638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255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origin story above the fold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3273552"/>
            <a:ext cx="731520" cy="25603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273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3776472"/>
            <a:ext cx="83210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776472"/>
            <a:ext cx="502920" cy="5303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764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3867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all 6 Google Business Profiles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26480" y="38679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3886200"/>
            <a:ext cx="731520" cy="25603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3886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4389120"/>
            <a:ext cx="83210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389120"/>
            <a:ext cx="502920" cy="530352"/>
          </a:xfrm>
          <a:prstGeom prst="rect">
            <a:avLst/>
          </a:prstGeom>
          <a:solidFill>
            <a:srgbClr val="3D7A8A"/>
          </a:solidFill>
          <a:ln w="12700">
            <a:solidFill>
              <a:srgbClr val="3D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3891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4480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unified Creek Group hub + gift cards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26480" y="4480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06640" y="4498848"/>
            <a:ext cx="731520" cy="256032"/>
          </a:xfrm>
          <a:prstGeom prst="rect">
            <a:avLst/>
          </a:prstGeom>
          <a:solidFill>
            <a:srgbClr val="3D7A8A"/>
          </a:solidFill>
          <a:ln w="12700">
            <a:solidFill>
              <a:srgbClr val="3D7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4498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36576" cy="51435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there.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1097280" cy="54864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34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of credibility. Six venues people actually love. A genuinely great origin story. The highest-return moves aren't about reinvention — they're about tightening what's already there.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AUDIT  ·  THE CREEK GROUP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Creek Group — Digital Audit</dc:title>
  <dc:subject>PptxGenJS Presentation</dc:subject>
  <dc:creator>PptxGenJS</dc:creator>
  <cp:lastModifiedBy>PptxGenJS</cp:lastModifiedBy>
  <cp:revision>1</cp:revision>
  <dcterms:created xsi:type="dcterms:W3CDTF">2026-04-02T02:11:35Z</dcterms:created>
  <dcterms:modified xsi:type="dcterms:W3CDTF">2026-04-02T02:11:35Z</dcterms:modified>
</cp:coreProperties>
</file>